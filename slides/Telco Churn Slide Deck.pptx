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olors3.xml" ContentType="application/vnd.ms-office.chartcolorstyl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3.xml" ContentType="application/vnd.ms-office.chart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sz="1300" b="1" u="none" strike="noStrike">
                    <a:solidFill>
                      <a:srgbClr val="1B243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gapWidth val="40"/>
        <c:overlap val="0"/>
        <c:axId val="69718927"/>
        <c:axId val="94045160"/>
      </c:barChart>
      <c:catAx>
        <c:axId val="69718927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B2430"/>
                </a:solidFill>
                <a:uFillTx/>
                <a:latin typeface="Arial"/>
              </a:defRPr>
            </a:pPr>
          </a:p>
        </c:txPr>
        <c:crossAx val="94045160"/>
        <c:crosses val="autoZero"/>
        <c:auto val="1"/>
        <c:lblAlgn val="ctr"/>
        <c:lblOffset val="100"/>
        <c:noMultiLvlLbl val="0"/>
      </c:catAx>
      <c:valAx>
        <c:axId val="940451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69718927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1C7293"/>
            </a:solidFill>
            <a:ln w="0">
              <a:noFill/>
            </a:ln>
          </c:spPr>
          <c:invertIfNegative val="0"/>
          <c:dLbls>
            <c:numFmt formatCode="0.0\%" sourceLinked="0"/>
            <c:txPr>
              <a:bodyPr wrap="square"/>
              <a:lstStyle/>
              <a:p>
                <a:pPr>
                  <a:defRPr sz="1300" b="1" u="none" strike="noStrike">
                    <a:solidFill>
                      <a:srgbClr val="1B243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0–12 mo</c:v>
                </c:pt>
                <c:pt idx="1">
                  <c:v>13–24 mo</c:v>
                </c:pt>
                <c:pt idx="2">
                  <c:v>25–48 mo</c:v>
                </c:pt>
                <c:pt idx="3">
                  <c:v>49–72 mo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47.4</c:v>
                </c:pt>
                <c:pt idx="1">
                  <c:v>28.7</c:v>
                </c:pt>
                <c:pt idx="2">
                  <c:v>20.4</c:v>
                </c:pt>
                <c:pt idx="3">
                  <c:v>9.5</c:v>
                </c:pt>
              </c:numCache>
            </c:numRef>
          </c:val>
        </c:ser>
        <c:gapWidth val="35"/>
        <c:overlap val="0"/>
        <c:axId val="22194616"/>
        <c:axId val="32011053"/>
      </c:barChart>
      <c:catAx>
        <c:axId val="221946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B2430"/>
                </a:solidFill>
                <a:uFillTx/>
                <a:latin typeface="Arial"/>
              </a:defRPr>
            </a:pPr>
          </a:p>
        </c:txPr>
        <c:crossAx val="32011053"/>
        <c:crosses val="autoZero"/>
        <c:auto val="1"/>
        <c:lblAlgn val="ctr"/>
        <c:lblOffset val="100"/>
        <c:noMultiLvlLbl val="0"/>
      </c:catAx>
      <c:valAx>
        <c:axId val="3201105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2194616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Lbls>
            <c:numFmt formatCode="0\%" sourceLinked="0"/>
            <c:txPr>
              <a:bodyPr wrap="square"/>
              <a:lstStyle/>
              <a:p>
                <a:pPr>
                  <a:defRPr sz="1100" b="1" u="none" strike="noStrike">
                    <a:solidFill>
                      <a:srgbClr val="1B243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52.2</c:v>
                </c:pt>
                <c:pt idx="1">
                  <c:v>45.8</c:v>
                </c:pt>
                <c:pt idx="2">
                  <c:v>35.8</c:v>
                </c:pt>
                <c:pt idx="3">
                  <c:v>27.4</c:v>
                </c:pt>
                <c:pt idx="4">
                  <c:v>22.3</c:v>
                </c:pt>
                <c:pt idx="5">
                  <c:v>12.4</c:v>
                </c:pt>
                <c:pt idx="6">
                  <c:v>5.3</c:v>
                </c:pt>
              </c:numCache>
            </c:numRef>
          </c:val>
        </c:ser>
        <c:gapWidth val="25"/>
        <c:overlap val="0"/>
        <c:axId val="80004975"/>
        <c:axId val="89816538"/>
      </c:barChart>
      <c:catAx>
        <c:axId val="80004975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100" b="0" u="none" strike="noStrike">
                    <a:solidFill>
                      <a:srgbClr val="5B6774"/>
                    </a:solidFill>
                    <a:uFillTx/>
                    <a:latin typeface="Arial"/>
                  </a:rPr>
                  <a:t>Number of Add-Ons Subscribed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1B2430"/>
                </a:solidFill>
                <a:uFillTx/>
                <a:latin typeface="Arial"/>
              </a:defRPr>
            </a:pPr>
          </a:p>
        </c:txPr>
        <c:crossAx val="89816538"/>
        <c:crosses val="autoZero"/>
        <c:auto val="1"/>
        <c:lblAlgn val="ctr"/>
        <c:lblOffset val="100"/>
        <c:noMultiLvlLbl val="0"/>
      </c:catAx>
      <c:valAx>
        <c:axId val="8981653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0004975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210304-41FA-4F0F-8D56-0E22601F3D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3C4BD0-30D9-4649-84B8-51890CBE60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1D6D4F-0BD6-4B34-B244-CA6F7A864F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064FD6-431D-442A-9496-6A4A515858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1A4951-B40B-4CDC-B732-76D18B401D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055025-1EDF-44B6-AD87-0E2F22B03D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1826A9-7AF2-40CC-BCC8-4D171849A1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374FC4-DC80-4D8A-A92E-35ADB64593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E69FD5-9445-4C1F-8AD0-E054DFDA7B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212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-1097280"/>
            <a:ext cx="4114440" cy="411444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789920" y="4206240"/>
            <a:ext cx="2742840" cy="2742840"/>
          </a:xfrm>
          <a:prstGeom prst="ellipse">
            <a:avLst/>
          </a:prstGeom>
          <a:solidFill>
            <a:srgbClr val="1C7293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2331720"/>
            <a:ext cx="9600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CUSTOMER CHURN ANALYSIS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77240" y="2743200"/>
            <a:ext cx="10058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Data-Driven Retention Strategy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370332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Identifying why customers leave, predicting who's at risk, and what to do about it.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594360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Prepared by Praise  |  IBM Telco Customer Churn Dataset (7,043 customers)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The Business Problem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1051560"/>
            <a:ext cx="7497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A telecom provider is losing over a quarter of its customers — and needs to know who, why, and what to do next.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548640" y="1965960"/>
            <a:ext cx="3840120" cy="411444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548640" y="2331720"/>
            <a:ext cx="38401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26.5%</a:t>
            </a:r>
            <a:endParaRPr lang="en-US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548640" y="35204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of customers churned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914400" y="4206240"/>
            <a:ext cx="3108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7,043 total customers analyzed across demographics, account details, services, and billing.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6"/>
          <p:cNvSpPr/>
          <p:nvPr/>
        </p:nvSpPr>
        <p:spPr>
          <a:xfrm>
            <a:off x="4846320" y="210312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4846320" y="21031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9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5623560" y="196596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Diagnose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5623560" y="235008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Which customer attributes are most strongly associated with churn?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4846320" y="333756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846320" y="333756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9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623560" y="320040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Predict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5623560" y="358452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Build a model to score existing customers by churn risk.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4846320" y="45720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4846320" y="45720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9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5623560" y="4434840"/>
            <a:ext cx="5760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Act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5623560" y="4818960"/>
            <a:ext cx="5760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Translate findings into concrete, prioritized retention actions.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Telco Customer Churn Analysis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Contract Length Is the Single Biggest Lever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105156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Month-to-month customers churn at over 15× the rate of two-year contract holders.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" name="Chart 0"/>
          <p:cNvGraphicFramePr/>
          <p:nvPr/>
        </p:nvGraphicFramePr>
        <p:xfrm>
          <a:off x="548640" y="1691640"/>
          <a:ext cx="603468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0" name="Shape 2"/>
          <p:cNvSpPr/>
          <p:nvPr/>
        </p:nvSpPr>
        <p:spPr>
          <a:xfrm>
            <a:off x="6949440" y="1737360"/>
            <a:ext cx="4663080" cy="19656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7223760" y="19202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The steepest drop happens first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7223760" y="2331720"/>
            <a:ext cx="4205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Churn falls 31 points moving from month-to-month to a one-year contract — but only another 8.5 points to two-year. Most of the retention value comes from any commitment, not the longest one.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5"/>
          <p:cNvSpPr/>
          <p:nvPr/>
        </p:nvSpPr>
        <p:spPr>
          <a:xfrm>
            <a:off x="6949440" y="3886200"/>
            <a:ext cx="4663080" cy="196560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7223760" y="406908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The largest segment, too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7223760" y="4480560"/>
            <a:ext cx="4205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Month-to-month customers make up 54% of the entire customer base — making this the single largest source of both revenue and churn exposure.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Telco Customer Churn Analysis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54864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Risk Factors Compound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548640" y="105156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Contract type, internet service, and payment method each independently raise risk — and stack when combined.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"/>
          <p:cNvSpPr/>
          <p:nvPr/>
        </p:nvSpPr>
        <p:spPr>
          <a:xfrm>
            <a:off x="640080" y="1965960"/>
            <a:ext cx="3520080" cy="2377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40080" y="2148840"/>
            <a:ext cx="3520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54.6%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868680" y="32461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Fiber optic +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Month-to-month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4526280" y="1965960"/>
            <a:ext cx="3520080" cy="2377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4526280" y="2148840"/>
            <a:ext cx="3520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53.7%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4754880" y="32461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Electronic check +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Month-to-month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8412480" y="1965960"/>
            <a:ext cx="3520080" cy="237708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8412480" y="2148840"/>
            <a:ext cx="35200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53.2%</a:t>
            </a:r>
            <a:endParaRPr lang="en-US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8641080" y="3246120"/>
            <a:ext cx="3062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Fiber optic +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Electronic check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640080" y="4709160"/>
            <a:ext cx="10926720" cy="1416960"/>
          </a:xfrm>
          <a:prstGeom prst="rect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1005840" y="4892040"/>
            <a:ext cx="1019520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Compare: a two-year contract customer churns at just 0.8%–7.7%, regardless of payment method or internet type.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Telco Customer Churn Analysis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4864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Churn Risk Is Front-Loaded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48640" y="105156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Nearly half of all churn happens within a customer's first year — especially among month-to-month customers.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" name="Chart 0"/>
          <p:cNvGraphicFramePr/>
          <p:nvPr/>
        </p:nvGraphicFramePr>
        <p:xfrm>
          <a:off x="548640" y="1783080"/>
          <a:ext cx="6766200" cy="429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6" name="Shape 2"/>
          <p:cNvSpPr/>
          <p:nvPr/>
        </p:nvSpPr>
        <p:spPr>
          <a:xfrm>
            <a:off x="7635240" y="1783080"/>
            <a:ext cx="3977280" cy="429732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7909560" y="2011680"/>
            <a:ext cx="347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Why this matters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7909560" y="251460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Median tenure for churned customers: </a:t>
            </a: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10 months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7909560" y="2926080"/>
            <a:ext cx="347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Median tenure for retained customers: </a:t>
            </a:r>
            <a:r>
              <a:rPr lang="en-US" sz="13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38 months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7909560" y="3657600"/>
            <a:ext cx="34743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This protective effect (of tenure) is strongest for month-to-month customers specifically — tenure alone barely moves the needle for customers already on a fixed-term contract.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Telco Customer Churn Analysis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8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41148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Bundling Add-Ons Is a Strong Retention Lever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48640" y="105156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Churn drops 10× from zero add-ons to all six — but not every add-on carries equal weight.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5" name="Chart 0"/>
          <p:cNvGraphicFramePr/>
          <p:nvPr/>
        </p:nvGraphicFramePr>
        <p:xfrm>
          <a:off x="548640" y="1783080"/>
          <a:ext cx="6949080" cy="429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6" name="Shape 2"/>
          <p:cNvSpPr/>
          <p:nvPr/>
        </p:nvSpPr>
        <p:spPr>
          <a:xfrm>
            <a:off x="7818120" y="1783080"/>
            <a:ext cx="3794400" cy="4297320"/>
          </a:xfrm>
          <a:prstGeom prst="rect">
            <a:avLst/>
          </a:prstGeom>
          <a:solidFill>
            <a:srgbClr val="F5F7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8092440" y="2011680"/>
            <a:ext cx="3291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65A82"/>
                </a:solidFill>
                <a:effectLst/>
                <a:uFillTx/>
                <a:latin typeface="Cambria"/>
                <a:ea typeface="Cambria"/>
              </a:rPr>
              <a:t>Not all add-ons are equal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8092440" y="251460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Online Security &amp; Tech Support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8092440" y="2816280"/>
            <a:ext cx="3291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Cut churn by ~27 points each — the strongest protective effect of any add-on.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8092440" y="352044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Streaming TV &amp; Movies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7"/>
          <p:cNvSpPr/>
          <p:nvPr/>
        </p:nvSpPr>
        <p:spPr>
          <a:xfrm>
            <a:off x="8092440" y="3822120"/>
            <a:ext cx="3291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The most popular add-ons, yet only ~3.5 points of protective effect — far weaker despite higher adoption.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8"/>
          <p:cNvSpPr/>
          <p:nvPr/>
        </p:nvSpPr>
        <p:spPr>
          <a:xfrm>
            <a:off x="8092440" y="480060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Implication: incentivize security/support trials, not streaming, to move the needle on retention.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9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Telco Customer Churn Analysis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0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0"/>
          <p:cNvSpPr/>
          <p:nvPr/>
        </p:nvSpPr>
        <p:spPr>
          <a:xfrm>
            <a:off x="548640" y="41148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 Model That Explains Its Reasoning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"/>
          <p:cNvSpPr/>
          <p:nvPr/>
        </p:nvSpPr>
        <p:spPr>
          <a:xfrm>
            <a:off x="548640" y="105156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Beyond a risk score, the model shows exactly which factors drive each customer's prediction.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"/>
          <p:cNvSpPr/>
          <p:nvPr/>
        </p:nvSpPr>
        <p:spPr>
          <a:xfrm>
            <a:off x="640080" y="1920240"/>
            <a:ext cx="2742840" cy="18284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640080" y="20574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82–84%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4"/>
          <p:cNvSpPr/>
          <p:nvPr/>
        </p:nvSpPr>
        <p:spPr>
          <a:xfrm>
            <a:off x="777240" y="28803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ROC-AUC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3657600" y="1920240"/>
            <a:ext cx="2742840" cy="18284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3657600" y="20574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78%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3794760" y="2880360"/>
            <a:ext cx="24685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Churners Correctly Identified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640080" y="3977640"/>
            <a:ext cx="5394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Validated with 5-fold cross-validation for stability across different customer samples.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9"/>
          <p:cNvSpPr/>
          <p:nvPr/>
        </p:nvSpPr>
        <p:spPr>
          <a:xfrm>
            <a:off x="6492240" y="1920240"/>
            <a:ext cx="5074560" cy="4160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6766560" y="210312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Example: High-Risk Customer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6766560" y="25146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Predicted churn probability: 79%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2"/>
          <p:cNvSpPr/>
          <p:nvPr/>
        </p:nvSpPr>
        <p:spPr>
          <a:xfrm>
            <a:off x="6766560" y="3063240"/>
            <a:ext cx="164160" cy="1641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7040880" y="299016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No long-term contract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4"/>
          <p:cNvSpPr/>
          <p:nvPr/>
        </p:nvSpPr>
        <p:spPr>
          <a:xfrm>
            <a:off x="6766560" y="3465720"/>
            <a:ext cx="164160" cy="1641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7040880" y="339228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Senior citizen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6"/>
          <p:cNvSpPr/>
          <p:nvPr/>
        </p:nvSpPr>
        <p:spPr>
          <a:xfrm>
            <a:off x="6766560" y="3867840"/>
            <a:ext cx="164160" cy="1641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7040880" y="379476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Pays by electronic check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8"/>
          <p:cNvSpPr/>
          <p:nvPr/>
        </p:nvSpPr>
        <p:spPr>
          <a:xfrm>
            <a:off x="6766560" y="4270320"/>
            <a:ext cx="164160" cy="16416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7040880" y="419724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Fiber optic service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0"/>
          <p:cNvSpPr/>
          <p:nvPr/>
        </p:nvSpPr>
        <p:spPr>
          <a:xfrm>
            <a:off x="6766560" y="4672440"/>
            <a:ext cx="164160" cy="164160"/>
          </a:xfrm>
          <a:prstGeom prst="rect">
            <a:avLst/>
          </a:prstGeom>
          <a:solidFill>
            <a:srgbClr val="1E84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7040880" y="459936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430"/>
                </a:solidFill>
                <a:effectLst/>
                <a:uFillTx/>
                <a:latin typeface="Calibri"/>
                <a:ea typeface="Calibri"/>
              </a:rPr>
              <a:t>Below-average total charges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2"/>
          <p:cNvSpPr/>
          <p:nvPr/>
        </p:nvSpPr>
        <p:spPr>
          <a:xfrm>
            <a:off x="6766560" y="5212080"/>
            <a:ext cx="4480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Each factor compounds — enabling a retention offer tailored to this customer's specific risk drivers.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3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Telco Customer Churn Analysis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4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48640" y="4114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Recommendations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"/>
          <p:cNvSpPr/>
          <p:nvPr/>
        </p:nvSpPr>
        <p:spPr>
          <a:xfrm>
            <a:off x="548640" y="10515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Five concrete, evidence-backed actions to reduce churn.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640080" y="190188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640080" y="1901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1371600" y="182880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Convert month-to-month customers gradually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1371600" y="215784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Use it as a low-friction entry point, then incentivize a switch to a one-year contract after the first few months.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6"/>
          <p:cNvSpPr/>
          <p:nvPr/>
        </p:nvSpPr>
        <p:spPr>
          <a:xfrm>
            <a:off x="640080" y="27979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640080" y="27979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1371600" y="272484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Prioritize compounding risk profiles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9"/>
          <p:cNvSpPr/>
          <p:nvPr/>
        </p:nvSpPr>
        <p:spPr>
          <a:xfrm>
            <a:off x="1371600" y="305424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Fiber + month-to-month + electronic check customers are the highest-priority segment for outreach.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640080" y="369432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640080" y="36943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1371600" y="362088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Promote Security &amp; Tech Support add-ons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1371600" y="395028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The evidence-backed retention lever — not streaming, despite its higher popularity.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640080" y="459036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640080" y="4590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1371600" y="451728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Shift customers off Electronic check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1371600" y="484632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Encourage automatic payment methods, independently linked to lower churn.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640080" y="5486400"/>
            <a:ext cx="502560" cy="50256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640080" y="54864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4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1371600" y="5413320"/>
            <a:ext cx="9875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Deploy the model operationally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1371600" y="5742360"/>
            <a:ext cx="987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Score customers continuously and surface individual risk factors for tailored outreach.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457200" y="64465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Telco Customer Churn Analysis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112744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774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2026-07-16T18:43:35Z</dcterms:created>
  <dc:creator>PptxGenJS</dc:creator>
  <dc:description/>
  <dc:language>en-US</dc:language>
  <cp:lastModifiedBy/>
  <dcterms:modified xsi:type="dcterms:W3CDTF">2026-07-16T21:46:12Z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